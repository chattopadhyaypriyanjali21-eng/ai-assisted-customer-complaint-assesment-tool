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1825898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2E9E96"/>
                </a:solidFill>
                <a:latin typeface="Segoe UI"/>
              </a:rPr>
              <a:t>Putting a Generative AI Step Between Complaint Intake and the Work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887" y="439967"/>
            <a:ext cx="10789920" cy="1247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IN" sz="4000" b="1" dirty="0">
                <a:solidFill>
                  <a:srgbClr val="1F2933"/>
                </a:solidFill>
                <a:latin typeface="Segoe UI"/>
              </a:rPr>
              <a:t>AI-assisted-Customer-Complaint-</a:t>
            </a:r>
            <a:r>
              <a:rPr lang="en-IN" sz="4000" b="1" dirty="0" err="1">
                <a:solidFill>
                  <a:srgbClr val="1F2933"/>
                </a:solidFill>
                <a:latin typeface="Segoe UI"/>
              </a:rPr>
              <a:t>Assesment</a:t>
            </a:r>
            <a:r>
              <a:rPr lang="en-IN" sz="4000" b="1" dirty="0">
                <a:solidFill>
                  <a:srgbClr val="1F2933"/>
                </a:solidFill>
                <a:latin typeface="Segoe UI"/>
              </a:rPr>
              <a:t>-Tool</a:t>
            </a:r>
            <a:endParaRPr sz="4000" b="1" i="0" dirty="0">
              <a:solidFill>
                <a:srgbClr val="1F2933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5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F2933"/>
                </a:solidFill>
                <a:latin typeface="Segoe UI"/>
              </a:rPr>
              <a:t>A medical device and pharma company receives ~6,000 complaints a year. Every one must be read, classified, graded for potential patient harm and routed to the right team.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Segoe UI"/>
              </a:rPr>
              <a:t>That takes ~12 minutes each and is done entirely by hand. Grading harm is a judgement, not a lookup — which is exactly where simple automation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1460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5"/>
                </a:solidFill>
                <a:latin typeface="Segoe UI"/>
              </a:rPr>
              <a:t>What was built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F2933"/>
                </a:solidFill>
                <a:latin typeface="Segoe UI"/>
              </a:rPr>
              <a:t>A working pipeline, not a mock-up. Claude drafts a structured record for each complaint; a qualified handler accepts, edits or rejects it. The AI never closes a complaint.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Segoe UI"/>
              </a:rPr>
              <a:t>The same output is built twice — once by Claude, once by a keyword rules engine — so the AI is measured against the cheap alternative, not against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7492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F6FB5"/>
                </a:solidFill>
                <a:latin typeface="Segoe UI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25780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synthetic complaints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assessed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507492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9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5230368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E9E96"/>
                </a:solidFill>
                <a:latin typeface="Segoe UI"/>
              </a:rPr>
              <a:t>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525780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less handling time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12.0 → 4.1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507492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4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5230368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9453F"/>
                </a:solidFill>
                <a:latin typeface="Segoe UI"/>
              </a:rPr>
              <a:t>1 vs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4624" y="525780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serious under-calls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785"/>
                </a:solidFill>
                <a:latin typeface="Segoe UI"/>
              </a:rPr>
              <a:t>AI vs keyword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AI-Assisted Customer Complaint Assessment  |  Capstone Project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55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Segoe UI"/>
              </a:rPr>
              <a:t>How it works — and where the AI actually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785"/>
                </a:solidFill>
                <a:latin typeface="Segoe UI"/>
              </a:rPr>
              <a:t>Every box below is a real file or table in the project. Nothing is aspirational.</a:t>
            </a:r>
          </a:p>
        </p:txBody>
      </p:sp>
      <p:pic>
        <p:nvPicPr>
          <p:cNvPr id="6" name="Picture 5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766560" cy="37892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50876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DDF1EF"/>
          </a:solidFill>
          <a:ln w="19050">
            <a:solidFill>
              <a:srgbClr val="2E9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719072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9E96"/>
                </a:solidFill>
                <a:latin typeface="Segoe UI"/>
              </a:rPr>
              <a:t>Where GenAI adds value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Rules match keywords. The model reads meaning: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grades harm from narrative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names the facts that are missing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resolves nicknames to a catalogue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turns a complaint into a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794760"/>
            <a:ext cx="3794760" cy="2331720"/>
          </a:xfrm>
          <a:prstGeom prst="roundRect">
            <a:avLst>
              <a:gd name="adj" fmla="val 6000"/>
            </a:avLst>
          </a:prstGeom>
          <a:solidFill>
            <a:srgbClr val="FADEDC"/>
          </a:solidFill>
          <a:ln w="19050">
            <a:solidFill>
              <a:srgbClr val="C94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4005072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453F"/>
                </a:solidFill>
                <a:latin typeface="Segoe UI"/>
              </a:rPr>
              <a:t>The human review gate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A record is held for a person if ANY of: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severity is Critical or High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flagged reportable to a regulator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model confidence below 0.75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•  the product could not be identified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1F2933"/>
                </a:solidFill>
                <a:latin typeface="Segoe UI"/>
              </a:rPr>
              <a:t>28 of 40 (70%) were held. Nothing touching patient harm is ever auto-routed.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AI-Assisted Customer Complaint Assessment  |  Capstone 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3"/>
                </a:solidFill>
                <a:latin typeface="Segoe UI"/>
              </a:rPr>
              <a:t>Results, and an honest read of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785"/>
                </a:solidFill>
                <a:latin typeface="Segoe UI"/>
              </a:rPr>
              <a:t>Both engines run over the identical 40 complaints, scored against the same human-reviewed answer key.</a:t>
            </a:r>
          </a:p>
        </p:txBody>
      </p:sp>
      <p:pic>
        <p:nvPicPr>
          <p:cNvPr id="6" name="Picture 5" descr="sho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766560" cy="210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508760"/>
            <a:ext cx="379476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719072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5"/>
                </a:solidFill>
                <a:latin typeface="Segoe UI"/>
              </a:rPr>
              <a:t>The finding that matters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The keyword engine graded 15 of 40 harm-related complaints as routine. It has no keyword for “woke gasping” or “returned to theatre”.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1" i="0">
                <a:solidFill>
                  <a:srgbClr val="1F2933"/>
                </a:solidFill>
                <a:latin typeface="Segoe UI"/>
              </a:rPr>
              <a:t>Claude got 1 wrong. That gap is the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42900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361188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07214"/>
                </a:solidFill>
                <a:latin typeface="Segoe UI"/>
              </a:rPr>
              <a:t>The money is thin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~$33,200/yr of freed time against $34,000 build. Year 1 runs at −$11,400; payback mid-year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800600"/>
            <a:ext cx="3794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4983480"/>
            <a:ext cx="32918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B7785"/>
                </a:solidFill>
                <a:latin typeface="Segoe UI"/>
              </a:rPr>
              <a:t>Limitations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 i="0">
                <a:solidFill>
                  <a:srgbClr val="1F2933"/>
                </a:solidFill>
                <a:latin typeface="Segoe UI"/>
              </a:rPr>
              <a:t>40 synthetic records; one author wrote the complaints, the answer key and the AI output. Figures are illustrative, not validated.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532120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9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650992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3"/>
                </a:solidFill>
                <a:latin typeface="Segoe UI"/>
              </a:rPr>
              <a:t>Recommendation: fund a 90-day shadow pilot, not the build. The efficiency case is thin; the safety case is strong but rests on synthetic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AI-Assisted Customer Complaint Assessment  |  Capstone 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55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78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473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ARONI DAS</cp:lastModifiedBy>
  <cp:revision>2</cp:revision>
  <dcterms:created xsi:type="dcterms:W3CDTF">2013-01-27T09:14:16Z</dcterms:created>
  <dcterms:modified xsi:type="dcterms:W3CDTF">2026-09-10T08:48:34Z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47b247-e90e-43a3-9d7b-004f14ae6873_Enabled">
    <vt:lpwstr>true</vt:lpwstr>
  </property>
  <property fmtid="{D5CDD505-2E9C-101B-9397-08002B2CF9AE}" pid="3" name="MSIP_Label_d347b247-e90e-43a3-9d7b-004f14ae6873_SetDate">
    <vt:lpwstr>2026-09-10T08:48:34Z</vt:lpwstr>
  </property>
  <property fmtid="{D5CDD505-2E9C-101B-9397-08002B2CF9AE}" pid="4" name="MSIP_Label_d347b247-e90e-43a3-9d7b-004f14ae6873_Method">
    <vt:lpwstr>Standard</vt:lpwstr>
  </property>
  <property fmtid="{D5CDD505-2E9C-101B-9397-08002B2CF9AE}" pid="5" name="MSIP_Label_d347b247-e90e-43a3-9d7b-004f14ae6873_Name">
    <vt:lpwstr>d347b247-e90e-43a3-9d7b-004f14ae6873</vt:lpwstr>
  </property>
  <property fmtid="{D5CDD505-2E9C-101B-9397-08002B2CF9AE}" pid="6" name="MSIP_Label_d347b247-e90e-43a3-9d7b-004f14ae6873_SiteId">
    <vt:lpwstr>76e3921f-489b-4b7e-9547-9ea297add9b5</vt:lpwstr>
  </property>
  <property fmtid="{D5CDD505-2E9C-101B-9397-08002B2CF9AE}" pid="7" name="MSIP_Label_d347b247-e90e-43a3-9d7b-004f14ae6873_ActionId">
    <vt:lpwstr>6e187ee6-8249-4e9a-91a0-3e2e3fe775e4</vt:lpwstr>
  </property>
  <property fmtid="{D5CDD505-2E9C-101B-9397-08002B2CF9AE}" pid="8" name="MSIP_Label_d347b247-e90e-43a3-9d7b-004f14ae6873_ContentBits">
    <vt:lpwstr>0</vt:lpwstr>
  </property>
  <property fmtid="{D5CDD505-2E9C-101B-9397-08002B2CF9AE}" pid="9" name="MSIP_Label_d347b247-e90e-43a3-9d7b-004f14ae6873_Tag">
    <vt:lpwstr>10, 3, 0, 1</vt:lpwstr>
  </property>
</Properties>
</file>